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bel" panose="02000506030000020004" pitchFamily="2" charset="0"/>
      <p:regular r:id="rId13"/>
    </p:embeddedFont>
    <p:embeddedFont>
      <p:font typeface="Barlow Semi Condensed" panose="00000506000000000000" pitchFamily="2" charset="0"/>
      <p:regular r:id="rId14"/>
      <p:bold r:id="rId15"/>
      <p:italic r:id="rId16"/>
      <p:boldItalic r:id="rId17"/>
    </p:embeddedFont>
    <p:embeddedFont>
      <p:font typeface="Barlow Semi Condensed Medium" panose="00000606000000000000" pitchFamily="2" charset="0"/>
      <p:regular r:id="rId18"/>
      <p:bold r:id="rId19"/>
      <p:italic r:id="rId20"/>
      <p:boldItalic r:id="rId21"/>
    </p:embeddedFont>
    <p:embeddedFont>
      <p:font typeface="Fjalla One" panose="02000506040000020004" pitchFamily="2" charset="0"/>
      <p:regular r:id="rId22"/>
    </p:embeddedFont>
    <p:embeddedFont>
      <p:font typeface="Roboto Condensed Light" panose="02000000000000000000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75669F-29D3-4AD7-83BC-CE3F65336A3B}">
  <a:tblStyle styleId="{1A75669F-29D3-4AD7-83BC-CE3F65336A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634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9" r:id="rId11"/>
    <p:sldLayoutId id="2147483673" r:id="rId12"/>
    <p:sldLayoutId id="2147483674" r:id="rId13"/>
    <p:sldLayoutId id="2147483675" r:id="rId14"/>
    <p:sldLayoutId id="214748367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131172" y="959820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3511296" y="682752"/>
            <a:ext cx="5501532" cy="26852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Caesar Chiper – Program Kriptografi Dengan Python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199888" y="3368016"/>
            <a:ext cx="3264300" cy="1092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 err="1">
                <a:solidFill>
                  <a:schemeClr val="accent1"/>
                </a:solidFill>
              </a:rPr>
              <a:t>Fajrur</a:t>
            </a:r>
            <a:r>
              <a:rPr lang="en-US" sz="2300" dirty="0">
                <a:solidFill>
                  <a:schemeClr val="accent1"/>
                </a:solidFill>
              </a:rPr>
              <a:t> </a:t>
            </a:r>
            <a:r>
              <a:rPr lang="en-US" sz="2300" dirty="0" err="1">
                <a:solidFill>
                  <a:schemeClr val="accent1"/>
                </a:solidFill>
              </a:rPr>
              <a:t>robi</a:t>
            </a:r>
            <a:r>
              <a:rPr lang="en-US" sz="2300" dirty="0">
                <a:solidFill>
                  <a:schemeClr val="accent1"/>
                </a:solidFill>
              </a:rPr>
              <a:t> </a:t>
            </a:r>
            <a:r>
              <a:rPr lang="en-US" sz="2300" dirty="0" err="1">
                <a:solidFill>
                  <a:schemeClr val="accent1"/>
                </a:solidFill>
              </a:rPr>
              <a:t>sya</a:t>
            </a:r>
            <a:r>
              <a:rPr lang="en-US" sz="2300" dirty="0" err="1"/>
              <a:t>`bani</a:t>
            </a:r>
            <a:endParaRPr lang="en-US" sz="23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>
                <a:solidFill>
                  <a:schemeClr val="accent1"/>
                </a:solidFill>
              </a:rPr>
              <a:t>240511202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accent1"/>
                </a:solidFill>
              </a:rPr>
              <a:t>TI24D</a:t>
            </a: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1862328" y="301752"/>
            <a:ext cx="5647944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PENDAHULUAN &amp; ALGORITMA YG DIPILIH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2C47F-3CEF-3F8D-74DD-BFBE73D9F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26262"/>
            <a:ext cx="8282369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ID" sz="1600" dirty="0" err="1"/>
              <a:t>Kriptografi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ilmu</a:t>
            </a:r>
            <a:r>
              <a:rPr lang="en-ID" sz="1600" dirty="0"/>
              <a:t> yang </a:t>
            </a:r>
            <a:r>
              <a:rPr lang="en-ID" sz="1600" dirty="0" err="1"/>
              <a:t>mempelajari</a:t>
            </a:r>
            <a:r>
              <a:rPr lang="en-ID" sz="1600" dirty="0"/>
              <a:t> </a:t>
            </a:r>
            <a:r>
              <a:rPr lang="en-ID" sz="1600" dirty="0" err="1"/>
              <a:t>teknik</a:t>
            </a:r>
            <a:r>
              <a:rPr lang="en-ID" sz="1600" dirty="0"/>
              <a:t> </a:t>
            </a:r>
            <a:r>
              <a:rPr lang="en-ID" sz="1600" dirty="0" err="1"/>
              <a:t>pengamanan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mengubah</a:t>
            </a:r>
            <a:r>
              <a:rPr lang="en-ID" sz="1600" dirty="0"/>
              <a:t> data </a:t>
            </a:r>
            <a:r>
              <a:rPr lang="en-ID" sz="1600" dirty="0" err="1"/>
              <a:t>asli</a:t>
            </a:r>
            <a:r>
              <a:rPr lang="en-ID" sz="1600" dirty="0"/>
              <a:t> (plaintext)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dibaca</a:t>
            </a:r>
            <a:r>
              <a:rPr lang="en-ID" sz="1600" dirty="0"/>
              <a:t> (ciphertext). </a:t>
            </a:r>
            <a:r>
              <a:rPr lang="en-ID" sz="1600" dirty="0" err="1"/>
              <a:t>Tujuan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</a:t>
            </a:r>
            <a:r>
              <a:rPr lang="en-ID" sz="1600" dirty="0" err="1"/>
              <a:t>kriptografi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menjaga</a:t>
            </a:r>
            <a:r>
              <a:rPr lang="en-ID" sz="1600" dirty="0"/>
              <a:t> </a:t>
            </a:r>
            <a:r>
              <a:rPr lang="en-ID" sz="1600" dirty="0" err="1"/>
              <a:t>kerahasiaan</a:t>
            </a:r>
            <a:r>
              <a:rPr lang="en-ID" sz="1600" dirty="0"/>
              <a:t>, </a:t>
            </a:r>
            <a:r>
              <a:rPr lang="en-ID" sz="1600" dirty="0" err="1"/>
              <a:t>integritas</a:t>
            </a:r>
            <a:r>
              <a:rPr lang="en-ID" sz="1600" dirty="0"/>
              <a:t>, dan </a:t>
            </a:r>
            <a:r>
              <a:rPr lang="en-ID" sz="1600" dirty="0" err="1"/>
              <a:t>keamanan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agar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mudah</a:t>
            </a:r>
            <a:r>
              <a:rPr lang="en-ID" sz="1600" dirty="0"/>
              <a:t> </a:t>
            </a:r>
            <a:r>
              <a:rPr lang="en-ID" sz="1600" dirty="0" err="1"/>
              <a:t>diakses</a:t>
            </a:r>
            <a:r>
              <a:rPr lang="en-ID" sz="1600" dirty="0"/>
              <a:t> oleh </a:t>
            </a:r>
            <a:r>
              <a:rPr lang="en-ID" sz="1600" dirty="0" err="1"/>
              <a:t>pihak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berwenang</a:t>
            </a:r>
            <a:r>
              <a:rPr lang="en-ID" sz="1600" dirty="0"/>
              <a:t>.</a:t>
            </a:r>
          </a:p>
          <a:p>
            <a:r>
              <a:rPr lang="en-ID" sz="1600" dirty="0"/>
              <a:t>Salah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metode</a:t>
            </a:r>
            <a:r>
              <a:rPr lang="en-ID" sz="1600" dirty="0"/>
              <a:t> </a:t>
            </a:r>
            <a:r>
              <a:rPr lang="en-ID" sz="1600" dirty="0" err="1"/>
              <a:t>kriptografi</a:t>
            </a:r>
            <a:r>
              <a:rPr lang="en-ID" sz="1600" dirty="0"/>
              <a:t> </a:t>
            </a:r>
            <a:r>
              <a:rPr lang="en-ID" sz="1600" dirty="0" err="1"/>
              <a:t>klasik</a:t>
            </a:r>
            <a:r>
              <a:rPr lang="en-ID" sz="1600" dirty="0"/>
              <a:t> yang paling </a:t>
            </a:r>
            <a:r>
              <a:rPr lang="en-ID" sz="1600" dirty="0" err="1"/>
              <a:t>sederhana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b="1" dirty="0"/>
              <a:t>Caesar Cipher</a:t>
            </a:r>
            <a:r>
              <a:rPr lang="en-ID" sz="1600" dirty="0"/>
              <a:t>. </a:t>
            </a:r>
            <a:r>
              <a:rPr lang="en-ID" sz="1600" dirty="0" err="1"/>
              <a:t>Metode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bekerja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menggeser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huruf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 </a:t>
            </a:r>
            <a:r>
              <a:rPr lang="en-ID" sz="1600" dirty="0" err="1"/>
              <a:t>sejumlah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alfabet</a:t>
            </a:r>
            <a:r>
              <a:rPr lang="en-ID" sz="1600" dirty="0"/>
              <a:t>. </a:t>
            </a:r>
            <a:r>
              <a:rPr lang="en-ID" sz="1600" dirty="0" err="1"/>
              <a:t>Meskipun</a:t>
            </a:r>
            <a:r>
              <a:rPr lang="en-ID" sz="1600" dirty="0"/>
              <a:t> </a:t>
            </a:r>
            <a:r>
              <a:rPr lang="en-ID" sz="1600" dirty="0" err="1"/>
              <a:t>sederhana</a:t>
            </a:r>
            <a:r>
              <a:rPr lang="en-ID" sz="1600" dirty="0"/>
              <a:t>, Caesar Cipher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dasar</a:t>
            </a:r>
            <a:r>
              <a:rPr lang="en-ID" sz="1600" dirty="0"/>
              <a:t> </a:t>
            </a:r>
            <a:r>
              <a:rPr lang="en-ID" sz="1600" dirty="0" err="1"/>
              <a:t>penting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memahami</a:t>
            </a:r>
            <a:r>
              <a:rPr lang="en-ID" sz="1600" dirty="0"/>
              <a:t> </a:t>
            </a:r>
            <a:r>
              <a:rPr lang="en-ID" sz="1600" dirty="0" err="1"/>
              <a:t>konsep</a:t>
            </a:r>
            <a:r>
              <a:rPr lang="en-ID" sz="1600" dirty="0"/>
              <a:t> </a:t>
            </a:r>
            <a:r>
              <a:rPr lang="en-ID" sz="1600" dirty="0" err="1"/>
              <a:t>enkripsi</a:t>
            </a:r>
            <a:r>
              <a:rPr lang="en-ID" sz="1600" dirty="0"/>
              <a:t> modern.</a:t>
            </a:r>
          </a:p>
          <a:p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perkembangan</a:t>
            </a:r>
            <a:r>
              <a:rPr lang="en-ID" sz="1600" dirty="0"/>
              <a:t> </a:t>
            </a:r>
            <a:r>
              <a:rPr lang="en-ID" sz="1600" dirty="0" err="1"/>
              <a:t>teknologi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saat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,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keamanan</a:t>
            </a:r>
            <a:r>
              <a:rPr lang="en-ID" sz="1600" dirty="0"/>
              <a:t> data </a:t>
            </a:r>
            <a:r>
              <a:rPr lang="en-ID" sz="1600" dirty="0" err="1"/>
              <a:t>semakin</a:t>
            </a:r>
            <a:r>
              <a:rPr lang="en-ID" sz="1600" dirty="0"/>
              <a:t> </a:t>
            </a:r>
            <a:r>
              <a:rPr lang="en-ID" sz="1600" dirty="0" err="1"/>
              <a:t>meningkat</a:t>
            </a:r>
            <a:r>
              <a:rPr lang="en-ID" sz="1600" dirty="0"/>
              <a:t>. Oleh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, </a:t>
            </a:r>
            <a:r>
              <a:rPr lang="en-ID" sz="1600" dirty="0" err="1"/>
              <a:t>pemahaman</a:t>
            </a:r>
            <a:r>
              <a:rPr lang="en-ID" sz="1600" dirty="0"/>
              <a:t> </a:t>
            </a:r>
            <a:r>
              <a:rPr lang="en-ID" sz="1600" dirty="0" err="1"/>
              <a:t>tentang</a:t>
            </a:r>
            <a:r>
              <a:rPr lang="en-ID" sz="1600" dirty="0"/>
              <a:t> </a:t>
            </a:r>
            <a:r>
              <a:rPr lang="en-ID" sz="1600" dirty="0" err="1"/>
              <a:t>dasar-dasar</a:t>
            </a:r>
            <a:r>
              <a:rPr lang="en-ID" sz="1600" dirty="0"/>
              <a:t> </a:t>
            </a:r>
            <a:r>
              <a:rPr lang="en-ID" sz="1600" dirty="0" err="1"/>
              <a:t>kriptografi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 Caesar Cipher sangat </a:t>
            </a:r>
            <a:r>
              <a:rPr lang="en-ID" sz="1600" dirty="0" err="1"/>
              <a:t>penting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langkah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mempelajari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keamanan</a:t>
            </a:r>
            <a:r>
              <a:rPr lang="en-ID" sz="1600" dirty="0"/>
              <a:t> data yang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kompleks</a:t>
            </a:r>
            <a:r>
              <a:rPr lang="en-ID" sz="1600" dirty="0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0724C0D-2EC0-D936-D156-E323B798785A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376603" y="4127248"/>
            <a:ext cx="86193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5FC5B2-0E86-8D4D-B5E5-DC2B452C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843" y="3603760"/>
            <a:ext cx="867251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Algoritma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yang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digunakan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Caesar Cipher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Menggeser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setiap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huruf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pada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alfabet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berdasarkan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nilai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kunci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(shift).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Contoh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dengan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shift = 3, A → D, B → E,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dst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Cocok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untuk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memahami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dasar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enkripsi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dan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dekripsi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664208" y="65829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3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8" y="176476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 : Visual Studio Code</a:t>
            </a:r>
            <a:endParaRPr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844062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OS : WINDOWS 11</a:t>
            </a:r>
            <a:endParaRPr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Link Program</a:t>
            </a:r>
            <a:endParaRPr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4208" y="4066786"/>
            <a:ext cx="2307757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00" dirty="0"/>
              <a:t>https://github.com/ArobyMoezzy/LINK-MATDISK</a:t>
            </a:r>
            <a:endParaRPr sz="1000"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08780A-C2E3-7A79-40A4-6636BC5E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837" y="206724"/>
            <a:ext cx="3736848" cy="695049"/>
          </a:xfrm>
        </p:spPr>
        <p:txBody>
          <a:bodyPr/>
          <a:lstStyle/>
          <a:p>
            <a:r>
              <a:rPr lang="en-US" dirty="0"/>
              <a:t>KODE PROGRAM &amp; TOOLS</a:t>
            </a:r>
            <a:endParaRPr lang="en-ID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E48E231-A447-20A0-1525-6DFE714B9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978" y="989778"/>
            <a:ext cx="4797442" cy="3476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086256" y="0"/>
            <a:ext cx="5326480" cy="20010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dirty="0"/>
              <a:t>KERANGKA VISUAL KRIPTOGRAFI</a:t>
            </a:r>
            <a:endParaRPr sz="4700" dirty="0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F87A770C-0CD4-E454-569F-5008FB8E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256" y="1643634"/>
            <a:ext cx="4971488" cy="333070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1B92BE0-A72E-DD10-400F-C783AD0E7C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890320"/>
            <a:ext cx="387705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Alur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Enkripsi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plaintext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shift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pergeseran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huruf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(mod 26)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ciphertext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91752B-FF38-0C1E-CB5D-7D4480D3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240" y="5353194"/>
            <a:ext cx="1426756" cy="385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3F1DDC-893E-498F-9198-8ED845EC1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890320"/>
            <a:ext cx="324307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Alur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Dekripsi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ciphertext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shift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huruf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(mod 26)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plaintext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533D0CA-462D-D30A-EF71-E23EEBDFF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8919"/>
            <a:ext cx="356417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Makna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Proses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kebalikan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enkripsi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39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2163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9"/>
          <p:cNvSpPr txBox="1"/>
          <p:nvPr/>
        </p:nvSpPr>
        <p:spPr>
          <a:xfrm>
            <a:off x="4039175" y="1473608"/>
            <a:ext cx="10656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Your logo</a:t>
            </a:r>
            <a:endParaRPr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2166" name="Google Shape;2166;p39"/>
          <p:cNvGrpSpPr/>
          <p:nvPr/>
        </p:nvGrpSpPr>
        <p:grpSpPr>
          <a:xfrm>
            <a:off x="4276542" y="950661"/>
            <a:ext cx="591455" cy="590639"/>
            <a:chOff x="1190625" y="238125"/>
            <a:chExt cx="5238750" cy="5231525"/>
          </a:xfrm>
        </p:grpSpPr>
        <p:sp>
          <p:nvSpPr>
            <p:cNvPr id="2167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1653967" y="2502206"/>
            <a:ext cx="5818632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ANALISIS KONSEP : LOGIKA MATEMATIKA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925743" y="3078206"/>
            <a:ext cx="3867913" cy="4084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Menggunakan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If – else </a:t>
            </a: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untuk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menentukan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kondisi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: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64C6C1-A2A5-BEBD-5986-69D2039F6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32" y="3525600"/>
            <a:ext cx="1457528" cy="257211"/>
          </a:xfrm>
          <a:prstGeom prst="rect">
            <a:avLst/>
          </a:prstGeom>
        </p:spPr>
      </p:pic>
      <p:sp>
        <p:nvSpPr>
          <p:cNvPr id="6" name="Google Shape;2178;p39">
            <a:extLst>
              <a:ext uri="{FF2B5EF4-FFF2-40B4-BE49-F238E27FC236}">
                <a16:creationId xmlns:a16="http://schemas.microsoft.com/office/drawing/2014/main" id="{0661EDE0-D361-3CFF-4E23-D11DD9F73D6B}"/>
              </a:ext>
            </a:extLst>
          </p:cNvPr>
          <p:cNvSpPr txBox="1">
            <a:spLocks/>
          </p:cNvSpPr>
          <p:nvPr/>
        </p:nvSpPr>
        <p:spPr>
          <a:xfrm>
            <a:off x="688175" y="3425605"/>
            <a:ext cx="1125678" cy="40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nb-NO" dirty="0"/>
              <a:t>Fungsi</a:t>
            </a:r>
          </a:p>
        </p:txBody>
      </p:sp>
      <p:sp>
        <p:nvSpPr>
          <p:cNvPr id="7" name="Google Shape;2178;p39">
            <a:extLst>
              <a:ext uri="{FF2B5EF4-FFF2-40B4-BE49-F238E27FC236}">
                <a16:creationId xmlns:a16="http://schemas.microsoft.com/office/drawing/2014/main" id="{058A9DDA-CE44-8EE9-FE18-A16FD8BB5D51}"/>
              </a:ext>
            </a:extLst>
          </p:cNvPr>
          <p:cNvSpPr txBox="1">
            <a:spLocks/>
          </p:cNvSpPr>
          <p:nvPr/>
        </p:nvSpPr>
        <p:spPr>
          <a:xfrm>
            <a:off x="2828704" y="3449989"/>
            <a:ext cx="3304423" cy="40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nb-NO" dirty="0"/>
              <a:t>&gt; Cek apakah karakter huruf atau bukan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1F8D19-E83A-7F71-D7BE-9816D29E6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97" y="4020625"/>
            <a:ext cx="1428949" cy="209579"/>
          </a:xfrm>
          <a:prstGeom prst="rect">
            <a:avLst/>
          </a:prstGeom>
        </p:spPr>
      </p:pic>
      <p:sp>
        <p:nvSpPr>
          <p:cNvPr id="11" name="Google Shape;2178;p39">
            <a:extLst>
              <a:ext uri="{FF2B5EF4-FFF2-40B4-BE49-F238E27FC236}">
                <a16:creationId xmlns:a16="http://schemas.microsoft.com/office/drawing/2014/main" id="{8D852553-EEE9-79FA-6CCD-290136F5C1B2}"/>
              </a:ext>
            </a:extLst>
          </p:cNvPr>
          <p:cNvSpPr txBox="1">
            <a:spLocks/>
          </p:cNvSpPr>
          <p:nvPr/>
        </p:nvSpPr>
        <p:spPr>
          <a:xfrm>
            <a:off x="688175" y="3897383"/>
            <a:ext cx="1125678" cy="40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nb-NO" dirty="0"/>
              <a:t>Fungsi</a:t>
            </a:r>
          </a:p>
        </p:txBody>
      </p:sp>
      <p:sp>
        <p:nvSpPr>
          <p:cNvPr id="12" name="Google Shape;2178;p39">
            <a:extLst>
              <a:ext uri="{FF2B5EF4-FFF2-40B4-BE49-F238E27FC236}">
                <a16:creationId xmlns:a16="http://schemas.microsoft.com/office/drawing/2014/main" id="{F8EFA416-7EBA-7302-939E-D88A6E22DD47}"/>
              </a:ext>
            </a:extLst>
          </p:cNvPr>
          <p:cNvSpPr txBox="1">
            <a:spLocks/>
          </p:cNvSpPr>
          <p:nvPr/>
        </p:nvSpPr>
        <p:spPr>
          <a:xfrm>
            <a:off x="2977998" y="3897383"/>
            <a:ext cx="3187533" cy="40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nb-NO" dirty="0"/>
              <a:t>&gt; Atur basis ASCII ( Huruf Kecil Atau Bukan)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p40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84" name="Google Shape;2184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5" name="Google Shape;2185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6" name="Google Shape;2186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87" name="Google Shape;2187;p40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88" name="Google Shape;2188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9" name="Google Shape;2189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0" name="Google Shape;2190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1" name="Google Shape;2191;p40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192" name="Google Shape;2192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3" name="Google Shape;2193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4" name="Google Shape;2194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95" name="Google Shape;2195;p40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: </a:t>
            </a:r>
            <a:r>
              <a:rPr lang="en-US" dirty="0" err="1"/>
              <a:t>Fungsi</a:t>
            </a:r>
            <a:r>
              <a:rPr lang="en-US" dirty="0"/>
              <a:t> &amp; </a:t>
            </a:r>
            <a:r>
              <a:rPr lang="en-US" dirty="0" err="1"/>
              <a:t>Algoritma</a:t>
            </a:r>
            <a:endParaRPr dirty="0"/>
          </a:p>
        </p:txBody>
      </p:sp>
      <p:sp>
        <p:nvSpPr>
          <p:cNvPr id="2197" name="Google Shape;2197;p40"/>
          <p:cNvSpPr txBox="1">
            <a:spLocks noGrp="1"/>
          </p:cNvSpPr>
          <p:nvPr>
            <p:ph type="subTitle" idx="2"/>
          </p:nvPr>
        </p:nvSpPr>
        <p:spPr>
          <a:xfrm>
            <a:off x="936574" y="1098805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Fungsi</a:t>
            </a:r>
            <a:endParaRPr sz="3600" dirty="0"/>
          </a:p>
        </p:txBody>
      </p:sp>
      <p:sp>
        <p:nvSpPr>
          <p:cNvPr id="2198" name="Google Shape;2198;p40"/>
          <p:cNvSpPr txBox="1">
            <a:spLocks noGrp="1"/>
          </p:cNvSpPr>
          <p:nvPr>
            <p:ph type="subTitle" idx="3"/>
          </p:nvPr>
        </p:nvSpPr>
        <p:spPr>
          <a:xfrm>
            <a:off x="5986780" y="1094985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Fungsi</a:t>
            </a:r>
            <a:endParaRPr sz="3600" dirty="0"/>
          </a:p>
        </p:txBody>
      </p:sp>
      <p:sp>
        <p:nvSpPr>
          <p:cNvPr id="2200" name="Google Shape;2200;p40"/>
          <p:cNvSpPr txBox="1">
            <a:spLocks noGrp="1"/>
          </p:cNvSpPr>
          <p:nvPr>
            <p:ph type="subTitle" idx="5"/>
          </p:nvPr>
        </p:nvSpPr>
        <p:spPr>
          <a:xfrm>
            <a:off x="950074" y="2419958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UNTUK PROSES ENKRIPSI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01" name="Google Shape;2201;p40"/>
          <p:cNvSpPr txBox="1">
            <a:spLocks noGrp="1"/>
          </p:cNvSpPr>
          <p:nvPr>
            <p:ph type="subTitle" idx="6"/>
          </p:nvPr>
        </p:nvSpPr>
        <p:spPr>
          <a:xfrm>
            <a:off x="5986780" y="2419958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Untuk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Memanggil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encrypt </a:t>
            </a: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dengan</a:t>
            </a: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shift </a:t>
            </a:r>
            <a:r>
              <a:rPr lang="en-US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negatif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777B5-B00C-F7E4-2247-2A66CDB1D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54" y="2000948"/>
            <a:ext cx="3418832" cy="304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8619B-A095-9BE2-35AC-EA8DE8E6B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100" y="2000948"/>
            <a:ext cx="3221952" cy="333091"/>
          </a:xfrm>
          <a:prstGeom prst="rect">
            <a:avLst/>
          </a:prstGeom>
        </p:spPr>
      </p:pic>
      <p:sp>
        <p:nvSpPr>
          <p:cNvPr id="8" name="Google Shape;2201;p40">
            <a:extLst>
              <a:ext uri="{FF2B5EF4-FFF2-40B4-BE49-F238E27FC236}">
                <a16:creationId xmlns:a16="http://schemas.microsoft.com/office/drawing/2014/main" id="{DEE7102F-F9FF-019F-2977-0E880295FC00}"/>
              </a:ext>
            </a:extLst>
          </p:cNvPr>
          <p:cNvSpPr txBox="1">
            <a:spLocks/>
          </p:cNvSpPr>
          <p:nvPr/>
        </p:nvSpPr>
        <p:spPr>
          <a:xfrm>
            <a:off x="3468427" y="281471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dan invers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Analisis Konsep : Aritmatika Modular</a:t>
            </a:r>
            <a:endParaRPr dirty="0"/>
          </a:p>
        </p:txBody>
      </p:sp>
      <p:sp>
        <p:nvSpPr>
          <p:cNvPr id="18" name="Google Shape;2224;p41">
            <a:extLst>
              <a:ext uri="{FF2B5EF4-FFF2-40B4-BE49-F238E27FC236}">
                <a16:creationId xmlns:a16="http://schemas.microsoft.com/office/drawing/2014/main" id="{6D34AE9F-B2B3-53C0-EFDD-390F0912EFC0}"/>
              </a:ext>
            </a:extLst>
          </p:cNvPr>
          <p:cNvSpPr txBox="1">
            <a:spLocks/>
          </p:cNvSpPr>
          <p:nvPr/>
        </p:nvSpPr>
        <p:spPr>
          <a:xfrm>
            <a:off x="765662" y="1509150"/>
            <a:ext cx="1606225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1400" dirty="0"/>
              <a:t>B</a:t>
            </a:r>
            <a:r>
              <a:rPr lang="en-ID" sz="1400" dirty="0" err="1"/>
              <a:t>agian</a:t>
            </a:r>
            <a:r>
              <a:rPr lang="en-ID" sz="1400" dirty="0"/>
              <a:t> Utama 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76BA948-57E4-6B0A-D4C5-78472ABCE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43" y="2104950"/>
            <a:ext cx="7569470" cy="803292"/>
          </a:xfrm>
          <a:prstGeom prst="rect">
            <a:avLst/>
          </a:prstGeom>
        </p:spPr>
      </p:pic>
      <p:sp>
        <p:nvSpPr>
          <p:cNvPr id="21" name="Google Shape;2224;p41">
            <a:extLst>
              <a:ext uri="{FF2B5EF4-FFF2-40B4-BE49-F238E27FC236}">
                <a16:creationId xmlns:a16="http://schemas.microsoft.com/office/drawing/2014/main" id="{010BBDA6-62AB-85B0-387B-CA9B6629F824}"/>
              </a:ext>
            </a:extLst>
          </p:cNvPr>
          <p:cNvSpPr txBox="1">
            <a:spLocks/>
          </p:cNvSpPr>
          <p:nvPr/>
        </p:nvSpPr>
        <p:spPr>
          <a:xfrm>
            <a:off x="1184762" y="3171750"/>
            <a:ext cx="6206638" cy="151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1400" dirty="0"/>
              <a:t>%26 </a:t>
            </a:r>
            <a:r>
              <a:rPr lang="en-US" sz="1400" dirty="0" err="1"/>
              <a:t>Memastikan</a:t>
            </a:r>
            <a:r>
              <a:rPr lang="en-US" sz="1400" dirty="0"/>
              <a:t>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tetap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rentang</a:t>
            </a:r>
            <a:r>
              <a:rPr lang="en-US" sz="1400" dirty="0"/>
              <a:t> </a:t>
            </a:r>
            <a:r>
              <a:rPr lang="en-US" sz="1400" dirty="0" err="1"/>
              <a:t>alfabet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Contoh</a:t>
            </a:r>
            <a:r>
              <a:rPr lang="en-US" sz="1400" dirty="0"/>
              <a:t> :</a:t>
            </a:r>
          </a:p>
          <a:p>
            <a:r>
              <a:rPr lang="en-US" sz="1400" dirty="0"/>
              <a:t>Z + 3 = C Karena (25 + 3 ) Mod 26 = 2</a:t>
            </a:r>
          </a:p>
          <a:p>
            <a:r>
              <a:rPr lang="en-US" sz="1400" dirty="0" err="1"/>
              <a:t>Konsep</a:t>
            </a:r>
            <a:r>
              <a:rPr lang="en-US" sz="1400" dirty="0"/>
              <a:t> </a:t>
            </a:r>
            <a:r>
              <a:rPr lang="en-US" sz="1400" dirty="0" err="1"/>
              <a:t>dasar</a:t>
            </a:r>
            <a:r>
              <a:rPr lang="en-US" sz="1400" dirty="0"/>
              <a:t> :</a:t>
            </a:r>
          </a:p>
          <a:p>
            <a:r>
              <a:rPr lang="en-US" sz="1400" dirty="0"/>
              <a:t>A = b (mod 26)</a:t>
            </a:r>
            <a:endParaRPr lang="en-ID" sz="1400" dirty="0"/>
          </a:p>
        </p:txBody>
      </p:sp>
      <p:sp>
        <p:nvSpPr>
          <p:cNvPr id="23" name="Google Shape;2224;p41">
            <a:extLst>
              <a:ext uri="{FF2B5EF4-FFF2-40B4-BE49-F238E27FC236}">
                <a16:creationId xmlns:a16="http://schemas.microsoft.com/office/drawing/2014/main" id="{920AB5BB-5666-06E6-6489-895EB09E7193}"/>
              </a:ext>
            </a:extLst>
          </p:cNvPr>
          <p:cNvSpPr txBox="1">
            <a:spLocks/>
          </p:cNvSpPr>
          <p:nvPr/>
        </p:nvSpPr>
        <p:spPr>
          <a:xfrm>
            <a:off x="-657809" y="4746608"/>
            <a:ext cx="2296757" cy="39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1000" dirty="0"/>
              <a:t>= </a:t>
            </a:r>
            <a:r>
              <a:rPr lang="en-US" sz="1000" dirty="0" err="1"/>
              <a:t>itu</a:t>
            </a:r>
            <a:r>
              <a:rPr lang="en-US" sz="1000" dirty="0"/>
              <a:t> </a:t>
            </a:r>
            <a:r>
              <a:rPr lang="en-US" sz="1000" dirty="0" err="1"/>
              <a:t>aslinya</a:t>
            </a:r>
            <a:r>
              <a:rPr lang="en-US" sz="1000" dirty="0"/>
              <a:t> tribar </a:t>
            </a:r>
            <a:endParaRPr lang="en-ID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TABEL PEMETAAN KONSEP</a:t>
            </a:r>
            <a:endParaRPr dirty="0"/>
          </a:p>
        </p:txBody>
      </p:sp>
      <p:pic>
        <p:nvPicPr>
          <p:cNvPr id="3" name="Picture 2" descr="A table with green and white text&#10;&#10;AI-generated content may be incorrect.">
            <a:extLst>
              <a:ext uri="{FF2B5EF4-FFF2-40B4-BE49-F238E27FC236}">
                <a16:creationId xmlns:a16="http://schemas.microsoft.com/office/drawing/2014/main" id="{70AF89C6-2C0B-F5F1-FE0E-97A67713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86" y="879901"/>
            <a:ext cx="5896827" cy="3925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43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KESIMPULAN</a:t>
            </a:r>
            <a:endParaRPr dirty="0"/>
          </a:p>
        </p:txBody>
      </p:sp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grpSp>
        <p:nvGrpSpPr>
          <p:cNvPr id="2311" name="Google Shape;2311;p43"/>
          <p:cNvGrpSpPr/>
          <p:nvPr/>
        </p:nvGrpSpPr>
        <p:grpSpPr>
          <a:xfrm>
            <a:off x="438634" y="2293736"/>
            <a:ext cx="1245900" cy="1245900"/>
            <a:chOff x="6293934" y="2789548"/>
            <a:chExt cx="1245900" cy="1245900"/>
          </a:xfrm>
        </p:grpSpPr>
        <p:sp>
          <p:nvSpPr>
            <p:cNvPr id="2312" name="Google Shape;2312;p43"/>
            <p:cNvSpPr/>
            <p:nvPr/>
          </p:nvSpPr>
          <p:spPr>
            <a:xfrm>
              <a:off x="6293934" y="27895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3"/>
            <p:cNvSpPr/>
            <p:nvPr/>
          </p:nvSpPr>
          <p:spPr>
            <a:xfrm>
              <a:off x="6401784" y="28974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14" name="Google Shape;2314;p43"/>
          <p:cNvGrpSpPr/>
          <p:nvPr/>
        </p:nvGrpSpPr>
        <p:grpSpPr>
          <a:xfrm>
            <a:off x="6561757" y="396016"/>
            <a:ext cx="1245900" cy="1245900"/>
            <a:chOff x="6293934" y="1010648"/>
            <a:chExt cx="1245900" cy="1245900"/>
          </a:xfrm>
        </p:grpSpPr>
        <p:sp>
          <p:nvSpPr>
            <p:cNvPr id="2315" name="Google Shape;2315;p43"/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3"/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321" name="Google Shape;2321;p43"/>
          <p:cNvSpPr txBox="1"/>
          <p:nvPr/>
        </p:nvSpPr>
        <p:spPr>
          <a:xfrm>
            <a:off x="1529079" y="1108052"/>
            <a:ext cx="5146979" cy="81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Caesar Cipher adalah algoritma klasik, sederhana, tapi kuat untuk memahami kriptografi dasar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" name="Google Shape;2321;p43">
            <a:extLst>
              <a:ext uri="{FF2B5EF4-FFF2-40B4-BE49-F238E27FC236}">
                <a16:creationId xmlns:a16="http://schemas.microsoft.com/office/drawing/2014/main" id="{FE126DBE-38E8-FC4A-849E-1375338937F8}"/>
              </a:ext>
            </a:extLst>
          </p:cNvPr>
          <p:cNvSpPr txBox="1"/>
          <p:nvPr/>
        </p:nvSpPr>
        <p:spPr>
          <a:xfrm>
            <a:off x="1414778" y="1918580"/>
            <a:ext cx="5146979" cy="81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Proses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enkripsi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dan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deskripsi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saling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berlawanan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arah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(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fungsi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invers).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" name="Google Shape;2321;p43">
            <a:extLst>
              <a:ext uri="{FF2B5EF4-FFF2-40B4-BE49-F238E27FC236}">
                <a16:creationId xmlns:a16="http://schemas.microsoft.com/office/drawing/2014/main" id="{F1DBFA7F-977E-51C4-3338-138B3D66A917}"/>
              </a:ext>
            </a:extLst>
          </p:cNvPr>
          <p:cNvSpPr txBox="1"/>
          <p:nvPr/>
        </p:nvSpPr>
        <p:spPr>
          <a:xfrm>
            <a:off x="1414777" y="2660791"/>
            <a:ext cx="5146979" cy="81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Proses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enkripsi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dan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deskripsi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saling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berlawanan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arah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(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fungsi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invers).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4" name="Google Shape;2321;p43">
            <a:extLst>
              <a:ext uri="{FF2B5EF4-FFF2-40B4-BE49-F238E27FC236}">
                <a16:creationId xmlns:a16="http://schemas.microsoft.com/office/drawing/2014/main" id="{23351C1B-8088-8DC0-7E01-605BC3C2CCCC}"/>
              </a:ext>
            </a:extLst>
          </p:cNvPr>
          <p:cNvSpPr txBox="1"/>
          <p:nvPr/>
        </p:nvSpPr>
        <p:spPr>
          <a:xfrm>
            <a:off x="1325366" y="3350153"/>
            <a:ext cx="6942224" cy="81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Program Python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ini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menerapkan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banyak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konsep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Matematika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diskrit</a:t>
            </a:r>
            <a:endParaRPr lang="en-US"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Logika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Himpunan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Fungsi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Algoritma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 dan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aritmatika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modular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" name="Google Shape;2321;p43">
            <a:extLst>
              <a:ext uri="{FF2B5EF4-FFF2-40B4-BE49-F238E27FC236}">
                <a16:creationId xmlns:a16="http://schemas.microsoft.com/office/drawing/2014/main" id="{7924ADC9-EB15-5F00-ADF9-FBBD70B1E51E}"/>
              </a:ext>
            </a:extLst>
          </p:cNvPr>
          <p:cNvSpPr txBox="1"/>
          <p:nvPr/>
        </p:nvSpPr>
        <p:spPr>
          <a:xfrm>
            <a:off x="1325366" y="4174085"/>
            <a:ext cx="5799334" cy="81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Memberi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Gambaran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nyata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hubungan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teori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matematika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dengan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implementasi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-US" sz="1800" dirty="0" err="1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pemograman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2960050" y="298222"/>
            <a:ext cx="31522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DAFTAR PUSTAKA</a:t>
            </a:r>
            <a:endParaRPr sz="2400" dirty="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299822" y="1797091"/>
            <a:ext cx="4148328" cy="23511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dirty="0"/>
              <a:t>Python Documentaion 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Geeks</a:t>
            </a:r>
            <a:r>
              <a:rPr lang="en" dirty="0"/>
              <a:t>ForGeeks – Caesar Cipher in Cryptograpy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Programiz – Programiming Tutorial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dirty="0"/>
              <a:t>W3Schools – Python Basics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dirty="0"/>
              <a:t>Matematika Diskrit – Renaldi Munir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4727593" y="995250"/>
            <a:ext cx="3144600" cy="315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On-screen Show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Barlow Semi Condensed</vt:lpstr>
      <vt:lpstr>Times New Roman</vt:lpstr>
      <vt:lpstr>Barlow Semi Condensed Medium</vt:lpstr>
      <vt:lpstr>Abel</vt:lpstr>
      <vt:lpstr>Arial</vt:lpstr>
      <vt:lpstr>Fjalla One</vt:lpstr>
      <vt:lpstr>Roboto Condensed Light</vt:lpstr>
      <vt:lpstr>Technology Consulting by Slidesgo</vt:lpstr>
      <vt:lpstr>Caesar Chiper – Program Kriptografi Dengan Python</vt:lpstr>
      <vt:lpstr>PENDAHULUAN &amp; ALGORITMA YG DIPILIH</vt:lpstr>
      <vt:lpstr>01</vt:lpstr>
      <vt:lpstr>KERANGKA VISUAL KRIPTOGRAFI</vt:lpstr>
      <vt:lpstr>ANALISIS KONSEP : LOGIKA MATEMATIKA</vt:lpstr>
      <vt:lpstr>Analisis Konsep : Fungsi &amp; Algoritma</vt:lpstr>
      <vt:lpstr>Analisis Konsep : Aritmatika Modular</vt:lpstr>
      <vt:lpstr>TABEL PEMETAAN KONSEP</vt:lpstr>
      <vt:lpstr>KESIMPULAN</vt:lpstr>
      <vt:lpstr>DAFTAR PUSTAKA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Aroby Moezzy</dc:creator>
  <cp:lastModifiedBy>Aroby Moezzy</cp:lastModifiedBy>
  <cp:revision>1</cp:revision>
  <dcterms:modified xsi:type="dcterms:W3CDTF">2026-05-11T17:45:41Z</dcterms:modified>
</cp:coreProperties>
</file>